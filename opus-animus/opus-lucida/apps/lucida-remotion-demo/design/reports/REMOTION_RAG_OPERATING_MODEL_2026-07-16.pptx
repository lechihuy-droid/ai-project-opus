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3192" y="6510528"/>
            <a:ext cx="11402568" cy="0"/>
          </a:xfrm>
          <a:prstGeom prst="line">
            <a:avLst/>
          </a:prstGeom>
          <a:noFill/>
          <a:ln w="8890">
            <a:solidFill>
              <a:srgbClr val="C7CBD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3192" y="6547104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C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LUCIDA  |  REMOTION RAG OPERATING MODEL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77C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77C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93192" y="2926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LUCIDA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393192" y="1572768"/>
            <a:ext cx="10698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Remotion RAG đã chứng minh pipeline,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chứng minh chất lượng production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393192" y="324612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model hai lane | Executive decision deck + technical appendix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93192" y="4800600"/>
            <a:ext cx="3200400" cy="73152"/>
          </a:xfrm>
          <a:prstGeom prst="rect">
            <a:avLst/>
          </a:prstGeom>
          <a:solidFill>
            <a:srgbClr val="2E77D0"/>
          </a:solidFill>
          <a:ln w="12700">
            <a:solidFill>
              <a:srgbClr val="2E77D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93592" y="4800600"/>
            <a:ext cx="2057400" cy="73152"/>
          </a:xfrm>
          <a:prstGeom prst="rect">
            <a:avLst/>
          </a:prstGeom>
          <a:solidFill>
            <a:srgbClr val="B67816"/>
          </a:solidFill>
          <a:ln w="12700">
            <a:solidFill>
              <a:srgbClr val="B6781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50992" y="4800600"/>
            <a:ext cx="1234440" cy="73152"/>
          </a:xfrm>
          <a:prstGeom prst="rect">
            <a:avLst/>
          </a:prstGeom>
          <a:solidFill>
            <a:srgbClr val="C43B3B"/>
          </a:solidFill>
          <a:ln w="12700">
            <a:solidFill>
              <a:srgbClr val="C43B3B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3192" y="50749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 ·  ai-weekly-gpt-5-6-2026-07-16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93192" y="548640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JUL 2026  |  DECISION VERSION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77C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93192" y="22860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ANSWER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393192" y="530352"/>
            <a:ext cx="11292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 hai lane: production bảo toàn chất lượng; pilot tối ưu tốc độ học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93192" y="6291072"/>
            <a:ext cx="10607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Pilot report; FLOW_V1</a:t>
            </a:r>
            <a:endParaRPr lang="en-US" sz="650" dirty="0"/>
          </a:p>
        </p:txBody>
      </p:sp>
      <p:sp>
        <p:nvSpPr>
          <p:cNvPr id="5" name="Text 3"/>
          <p:cNvSpPr txBox="1"/>
          <p:nvPr/>
        </p:nvSpPr>
        <p:spPr>
          <a:xfrm>
            <a:off x="393192" y="138988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pipeline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880360" y="1353312"/>
            <a:ext cx="658368" cy="256032"/>
          </a:xfrm>
          <a:prstGeom prst="roundRect">
            <a:avLst/>
          </a:prstGeom>
          <a:solidFill>
            <a:srgbClr val="DFF1E8"/>
          </a:solidFill>
          <a:ln w="10160">
            <a:solidFill>
              <a:srgbClr val="DFF1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80360" y="1403604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7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393192" y="17373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Collect, sanitize, SQLite RAG, mapping, validation và render đều chạy.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069080" y="138988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readiness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29400" y="1353312"/>
            <a:ext cx="777240" cy="256032"/>
          </a:xfrm>
          <a:prstGeom prst="roundRect">
            <a:avLst/>
          </a:prstGeom>
          <a:solidFill>
            <a:srgbClr val="F8E3E3"/>
          </a:solidFill>
          <a:ln w="10160">
            <a:solidFill>
              <a:srgbClr val="F8E3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140360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NO-GO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069080" y="17373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im lặng, thiếu approval artifacts, style không đa dạng.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744968" y="138988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decision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469880" y="1353312"/>
            <a:ext cx="868680" cy="256032"/>
          </a:xfrm>
          <a:prstGeom prst="roundRect">
            <a:avLst/>
          </a:prstGeom>
          <a:solidFill>
            <a:srgbClr val="DDEBFA"/>
          </a:solidFill>
          <a:ln w="10160">
            <a:solidFill>
              <a:srgbClr val="DDEB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469880" y="1403604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LANES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7744968" y="17373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nhập flow. Chuẩn hóa boundary và promotion gate.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393192" y="2788920"/>
            <a:ext cx="11292840" cy="0"/>
          </a:xfrm>
          <a:prstGeom prst="line">
            <a:avLst/>
          </a:prstGeom>
          <a:noFill/>
          <a:ln w="1270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 txBox="1"/>
          <p:nvPr/>
        </p:nvSpPr>
        <p:spPr>
          <a:xfrm>
            <a:off x="393192" y="318211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7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5/5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393192" y="38862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có RAG match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078224" y="318211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67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4078224" y="38862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chunk duy nhất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763256" y="318211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4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-91 dB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7763256" y="38862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AAC gần như im lặng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93192" y="4736592"/>
            <a:ext cx="11292840" cy="896112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9651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Quyết định cần thực thi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743200" y="486460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FLOW_V1 giữ vai trò Production Lane. visual-flow trở thành Rapid Visual Pilot Lane, mặc định non-publishable.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77C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93192" y="22860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OF TRUTH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393192" y="530352"/>
            <a:ext cx="11292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hierarchy rõ loại bỏ tranh luận “flow gốc là file nào”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93192" y="6291072"/>
            <a:ext cx="10607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10-project-architecture-map; 11-current-operating-flow; FLOW_V1; RAG_INGEST_AND_RETRIEVAL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393192" y="2203704"/>
            <a:ext cx="11292840" cy="0"/>
          </a:xfrm>
          <a:prstGeom prst="line">
            <a:avLst/>
          </a:prstGeom>
          <a:noFill/>
          <a:ln w="889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 txBox="1"/>
          <p:nvPr/>
        </p:nvSpPr>
        <p:spPr>
          <a:xfrm>
            <a:off x="393192" y="14173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4475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401568" y="14173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10-project-architecture-map.md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543800" y="14173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Nguyên tắc và kiến trúc toàn Lucida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3192" y="3163824"/>
            <a:ext cx="11292840" cy="0"/>
          </a:xfrm>
          <a:prstGeom prst="line">
            <a:avLst/>
          </a:prstGeom>
          <a:noFill/>
          <a:ln w="889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 txBox="1"/>
          <p:nvPr/>
        </p:nvSpPr>
        <p:spPr>
          <a:xfrm>
            <a:off x="393192" y="23774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0487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GOVERNANCE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401568" y="23774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11-current-operating-flow.md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543800" y="23774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Tóm tắt current state và owner chain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93192" y="4123944"/>
            <a:ext cx="11292840" cy="0"/>
          </a:xfrm>
          <a:prstGeom prst="line">
            <a:avLst/>
          </a:prstGeom>
          <a:noFill/>
          <a:ln w="889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 txBox="1"/>
          <p:nvPr/>
        </p:nvSpPr>
        <p:spPr>
          <a:xfrm>
            <a:off x="393192" y="33375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36499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BASELINE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401568" y="33375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FLOW_V1.md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333756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trực tiếp để chấm pilot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93192" y="5084064"/>
            <a:ext cx="11292840" cy="0"/>
          </a:xfrm>
          <a:prstGeom prst="line">
            <a:avLst/>
          </a:prstGeom>
          <a:noFill/>
          <a:ln w="889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 txBox="1"/>
          <p:nvPr/>
        </p:nvSpPr>
        <p:spPr>
          <a:xfrm>
            <a:off x="393192" y="42976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432511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CONTROL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401568" y="42976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RAG_INGEST_AND_RETRIEVAL.md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543800" y="42976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S1 ingest và S3 retrieval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93192" y="5376672"/>
            <a:ext cx="11292840" cy="530352"/>
          </a:xfrm>
          <a:prstGeom prst="rect">
            <a:avLst/>
          </a:prstGeom>
          <a:solidFill>
            <a:srgbClr val="F7ECD8"/>
          </a:solidFill>
          <a:ln w="12700">
            <a:solidFill>
              <a:srgbClr val="F7ECD8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" y="555040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67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G00-G12 = roadmap/north star; không dùng làm baseline vận hành hiện tại.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77C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93192" y="22860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BASELINE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393192" y="530352"/>
            <a:ext cx="11292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FLOW_V1 yêu cầu một chuỗi S0-S6 có timeline khóa và ba user gates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93192" y="6291072"/>
            <a:ext cx="10607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FLOW_V1 sections 2-3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1664208" y="2322576"/>
            <a:ext cx="146304" cy="0"/>
          </a:xfrm>
          <a:prstGeom prst="line">
            <a:avLst/>
          </a:prstGeom>
          <a:noFill/>
          <a:ln w="19050">
            <a:solidFill>
              <a:srgbClr val="2E77D0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393192" y="1874520"/>
            <a:ext cx="1271016" cy="896112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0116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29514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+ script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81528" y="2322576"/>
            <a:ext cx="146304" cy="0"/>
          </a:xfrm>
          <a:prstGeom prst="line">
            <a:avLst/>
          </a:prstGeom>
          <a:noFill/>
          <a:ln w="19050">
            <a:solidFill>
              <a:srgbClr val="2E77D0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810512" y="1874520"/>
            <a:ext cx="1271016" cy="896112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20240" y="20116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S0.5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229514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98848" y="2322576"/>
            <a:ext cx="146304" cy="0"/>
          </a:xfrm>
          <a:prstGeom prst="line">
            <a:avLst/>
          </a:prstGeom>
          <a:noFill/>
          <a:ln w="19050">
            <a:solidFill>
              <a:srgbClr val="2E77D0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3227832" y="1874520"/>
            <a:ext cx="1271016" cy="896112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37560" y="20116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337560" y="229514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16168" y="2322576"/>
            <a:ext cx="146304" cy="0"/>
          </a:xfrm>
          <a:prstGeom prst="line">
            <a:avLst/>
          </a:prstGeom>
          <a:noFill/>
          <a:ln w="19050">
            <a:solidFill>
              <a:srgbClr val="2E77D0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4645152" y="1874520"/>
            <a:ext cx="1271016" cy="896112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54880" y="20116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229514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+ timing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33488" y="2322576"/>
            <a:ext cx="146304" cy="0"/>
          </a:xfrm>
          <a:prstGeom prst="line">
            <a:avLst/>
          </a:prstGeom>
          <a:noFill/>
          <a:ln w="19050">
            <a:solidFill>
              <a:srgbClr val="2E77D0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6062472" y="1874520"/>
            <a:ext cx="1271016" cy="896112"/>
          </a:xfrm>
          <a:prstGeom prst="rect">
            <a:avLst/>
          </a:prstGeom>
          <a:solidFill>
            <a:srgbClr val="DDEBFA"/>
          </a:solidFill>
          <a:ln w="12700">
            <a:solidFill>
              <a:srgbClr val="DDEBFA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72200" y="20116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172200" y="229514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750808" y="2322576"/>
            <a:ext cx="146304" cy="0"/>
          </a:xfrm>
          <a:prstGeom prst="line">
            <a:avLst/>
          </a:prstGeom>
          <a:noFill/>
          <a:ln w="19050">
            <a:solidFill>
              <a:srgbClr val="2E77D0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7479792" y="1874520"/>
            <a:ext cx="1271016" cy="896112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89520" y="20116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589520" y="229514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+ render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168128" y="2322576"/>
            <a:ext cx="146304" cy="0"/>
          </a:xfrm>
          <a:prstGeom prst="line">
            <a:avLst/>
          </a:prstGeom>
          <a:noFill/>
          <a:ln w="19050">
            <a:solidFill>
              <a:srgbClr val="2E77D0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8897112" y="1874520"/>
            <a:ext cx="1271016" cy="896112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006840" y="20116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006840" y="229514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0314432" y="1874520"/>
            <a:ext cx="1271016" cy="896112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424160" y="20116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0424160" y="229514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93192" y="3273552"/>
            <a:ext cx="34290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2E77D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76072" y="34107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1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1307592" y="33832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+ treatment approved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379976" y="3273552"/>
            <a:ext cx="34290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2E77D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62856" y="34107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2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5294376" y="33832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VideoMap + style trace approved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247888" y="3273552"/>
            <a:ext cx="34290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2E77D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430768" y="34107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3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9162288" y="33832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video approved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393192" y="46451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timeline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2011680" y="4617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Voice, captions và visual beats dùng cùng TimedScript.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6263640" y="46451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boundary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790956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 tự động; upload kênh ngoài vẫn manual.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77C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93192" y="22860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FLOW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393192" y="530352"/>
            <a:ext cx="11292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chạy utility path thiên về style, không chạy production flow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93192" y="6291072"/>
            <a:ext cx="10607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Pilot report sections 1-5; package.json scripts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393192" y="1600200"/>
            <a:ext cx="2377440" cy="640080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1208" y="171907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7099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script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70632" y="1920240"/>
            <a:ext cx="438912" cy="0"/>
          </a:xfrm>
          <a:prstGeom prst="line">
            <a:avLst/>
          </a:prstGeom>
          <a:noFill/>
          <a:ln w="1270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3209544" y="1600200"/>
            <a:ext cx="2377440" cy="640080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37560" y="171907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712464" y="17099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86984" y="1920240"/>
            <a:ext cx="438912" cy="0"/>
          </a:xfrm>
          <a:prstGeom prst="line">
            <a:avLst/>
          </a:prstGeom>
          <a:noFill/>
          <a:ln w="1270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6025896" y="1600200"/>
            <a:ext cx="2377440" cy="640080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53912" y="171907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528816" y="17099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RAG DB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03336" y="1920240"/>
            <a:ext cx="438912" cy="0"/>
          </a:xfrm>
          <a:prstGeom prst="line">
            <a:avLst/>
          </a:prstGeom>
          <a:noFill/>
          <a:ln w="1270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8842248" y="1600200"/>
            <a:ext cx="2377440" cy="640080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70264" y="171907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9345168" y="17099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93192" y="2971800"/>
            <a:ext cx="2377440" cy="640080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1208" y="309067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30815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70632" y="3291840"/>
            <a:ext cx="438912" cy="0"/>
          </a:xfrm>
          <a:prstGeom prst="line">
            <a:avLst/>
          </a:prstGeom>
          <a:noFill/>
          <a:ln w="1270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3209544" y="2971800"/>
            <a:ext cx="2377440" cy="640080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37560" y="309067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3712464" y="30815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586984" y="3291840"/>
            <a:ext cx="438912" cy="0"/>
          </a:xfrm>
          <a:prstGeom prst="line">
            <a:avLst/>
          </a:prstGeom>
          <a:noFill/>
          <a:ln w="1270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6025896" y="2971800"/>
            <a:ext cx="2377440" cy="640080"/>
          </a:xfrm>
          <a:prstGeom prst="rect">
            <a:avLst/>
          </a:prstGeom>
          <a:solidFill>
            <a:srgbClr val="F7ECD8"/>
          </a:solidFill>
          <a:ln w="12700">
            <a:solidFill>
              <a:srgbClr val="F7ECD8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53912" y="309067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528816" y="30815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QA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403336" y="3291840"/>
            <a:ext cx="438912" cy="0"/>
          </a:xfrm>
          <a:prstGeom prst="line">
            <a:avLst/>
          </a:prstGeom>
          <a:noFill/>
          <a:ln w="1270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8842248" y="2971800"/>
            <a:ext cx="2377440" cy="640080"/>
          </a:xfrm>
          <a:prstGeom prst="rect">
            <a:avLst/>
          </a:prstGeom>
          <a:solidFill>
            <a:srgbClr val="F7ECD8"/>
          </a:solidFill>
          <a:ln w="12700">
            <a:solidFill>
              <a:srgbClr val="F7ECD8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970264" y="309067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9345168" y="30815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+ MP4 QA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93192" y="4681728"/>
            <a:ext cx="11292840" cy="822960"/>
          </a:xfrm>
          <a:prstGeom prst="rect">
            <a:avLst/>
          </a:prstGeom>
          <a:solidFill>
            <a:srgbClr val="F8E3E3"/>
          </a:solidFill>
          <a:ln w="12700">
            <a:solidFill>
              <a:srgbClr val="F8E3E3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4892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4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nằm trong run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2331720" y="4818888"/>
            <a:ext cx="8915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 approval  ·  S0.5 treatment  ·  S2 TimedScript  ·  S3 user gate  ·  S5 final gate  ·  S6 handoff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393192" y="57881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4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luận: Rapid Visual Pilot hữu ích cho learning; nhãn production sẽ sai.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77C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93192" y="22860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DEVIATION HEATMAP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393192" y="530352"/>
            <a:ext cx="11292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stage nào ngoài core utility path đạt đầy đủ production contract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93192" y="6291072"/>
            <a:ext cx="10607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FLOW_V1; Pilot report</a:t>
            </a:r>
            <a:endParaRPr lang="en-US" sz="650" dirty="0"/>
          </a:p>
        </p:txBody>
      </p:sp>
      <p:sp>
        <p:nvSpPr>
          <p:cNvPr id="5" name="Text 3"/>
          <p:cNvSpPr txBox="1"/>
          <p:nvPr/>
        </p:nvSpPr>
        <p:spPr>
          <a:xfrm>
            <a:off x="393192" y="1417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4173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999232" y="14173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DECISIVE GAP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93192" y="2167128"/>
            <a:ext cx="7360920" cy="0"/>
          </a:xfrm>
          <a:prstGeom prst="line">
            <a:avLst/>
          </a:prstGeom>
          <a:noFill/>
          <a:ln w="635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393192" y="17830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481328" y="1773936"/>
            <a:ext cx="914400" cy="256032"/>
          </a:xfrm>
          <a:prstGeom prst="roundRect">
            <a:avLst/>
          </a:prstGeom>
          <a:solidFill>
            <a:srgbClr val="F7ECD8"/>
          </a:solidFill>
          <a:ln w="10160">
            <a:solidFill>
              <a:srgbClr val="F7EC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81328" y="1824228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67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2999232" y="178308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approval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93192" y="2679192"/>
            <a:ext cx="7360920" cy="0"/>
          </a:xfrm>
          <a:prstGeom prst="line">
            <a:avLst/>
          </a:prstGeom>
          <a:noFill/>
          <a:ln w="635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 txBox="1"/>
          <p:nvPr/>
        </p:nvSpPr>
        <p:spPr>
          <a:xfrm>
            <a:off x="393192" y="229514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S0.5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481328" y="2286000"/>
            <a:ext cx="914400" cy="256032"/>
          </a:xfrm>
          <a:prstGeom prst="roundRect">
            <a:avLst/>
          </a:prstGeom>
          <a:solidFill>
            <a:srgbClr val="F8E3E3"/>
          </a:solidFill>
          <a:ln w="10160">
            <a:solidFill>
              <a:srgbClr val="F8E3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81328" y="233629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2999232" y="2295144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treatment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93192" y="3191256"/>
            <a:ext cx="7360920" cy="0"/>
          </a:xfrm>
          <a:prstGeom prst="line">
            <a:avLst/>
          </a:prstGeom>
          <a:noFill/>
          <a:ln w="635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 txBox="1"/>
          <p:nvPr/>
        </p:nvSpPr>
        <p:spPr>
          <a:xfrm>
            <a:off x="393192" y="28072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481328" y="2798064"/>
            <a:ext cx="914400" cy="256032"/>
          </a:xfrm>
          <a:prstGeom prst="roundRect">
            <a:avLst/>
          </a:prstGeom>
          <a:solidFill>
            <a:srgbClr val="F7ECD8"/>
          </a:solidFill>
          <a:ln w="10160">
            <a:solidFill>
              <a:srgbClr val="F7EC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481328" y="2848356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67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2999232" y="2807208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 outside trace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93192" y="3703320"/>
            <a:ext cx="7360920" cy="0"/>
          </a:xfrm>
          <a:prstGeom prst="line">
            <a:avLst/>
          </a:prstGeom>
          <a:noFill/>
          <a:ln w="635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 txBox="1"/>
          <p:nvPr/>
        </p:nvSpPr>
        <p:spPr>
          <a:xfrm>
            <a:off x="393192" y="331927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481328" y="3310128"/>
            <a:ext cx="914400" cy="256032"/>
          </a:xfrm>
          <a:prstGeom prst="roundRect">
            <a:avLst/>
          </a:prstGeom>
          <a:solidFill>
            <a:srgbClr val="F8E3E3"/>
          </a:solidFill>
          <a:ln w="10160">
            <a:solidFill>
              <a:srgbClr val="F8E3E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481328" y="336042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2999232" y="3319272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TimedScript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93192" y="4215384"/>
            <a:ext cx="7360920" cy="0"/>
          </a:xfrm>
          <a:prstGeom prst="line">
            <a:avLst/>
          </a:prstGeom>
          <a:noFill/>
          <a:ln w="635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 txBox="1"/>
          <p:nvPr/>
        </p:nvSpPr>
        <p:spPr>
          <a:xfrm>
            <a:off x="393192" y="383133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481328" y="3822192"/>
            <a:ext cx="914400" cy="256032"/>
          </a:xfrm>
          <a:prstGeom prst="roundRect">
            <a:avLst/>
          </a:prstGeom>
          <a:solidFill>
            <a:srgbClr val="F7ECD8"/>
          </a:solidFill>
          <a:ln w="10160">
            <a:solidFill>
              <a:srgbClr val="F7ECD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481328" y="3872484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67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2999232" y="3831336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locked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93192" y="4727448"/>
            <a:ext cx="7360920" cy="0"/>
          </a:xfrm>
          <a:prstGeom prst="line">
            <a:avLst/>
          </a:prstGeom>
          <a:noFill/>
          <a:ln w="635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34" name="Text 32"/>
          <p:cNvSpPr txBox="1"/>
          <p:nvPr/>
        </p:nvSpPr>
        <p:spPr>
          <a:xfrm>
            <a:off x="393192" y="43434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481328" y="4334256"/>
            <a:ext cx="914400" cy="256032"/>
          </a:xfrm>
          <a:prstGeom prst="roundRect">
            <a:avLst/>
          </a:prstGeom>
          <a:solidFill>
            <a:srgbClr val="F7ECD8"/>
          </a:solidFill>
          <a:ln w="10160">
            <a:solidFill>
              <a:srgbClr val="F7ECD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481328" y="4384548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67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2999232" y="434340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audio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93192" y="5239512"/>
            <a:ext cx="7360920" cy="0"/>
          </a:xfrm>
          <a:prstGeom prst="line">
            <a:avLst/>
          </a:prstGeom>
          <a:noFill/>
          <a:ln w="635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39" name="Text 37"/>
          <p:cNvSpPr txBox="1"/>
          <p:nvPr/>
        </p:nvSpPr>
        <p:spPr>
          <a:xfrm>
            <a:off x="393192" y="485546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1481328" y="4846320"/>
            <a:ext cx="914400" cy="256032"/>
          </a:xfrm>
          <a:prstGeom prst="roundRect">
            <a:avLst/>
          </a:prstGeom>
          <a:solidFill>
            <a:srgbClr val="F7ECD8"/>
          </a:solidFill>
          <a:ln w="10160">
            <a:solidFill>
              <a:srgbClr val="F7ECD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481328" y="489661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67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2999232" y="4855464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final gate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393192" y="5751576"/>
            <a:ext cx="7360920" cy="0"/>
          </a:xfrm>
          <a:prstGeom prst="line">
            <a:avLst/>
          </a:prstGeom>
          <a:noFill/>
          <a:ln w="635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44" name="Text 42"/>
          <p:cNvSpPr txBox="1"/>
          <p:nvPr/>
        </p:nvSpPr>
        <p:spPr>
          <a:xfrm>
            <a:off x="393192" y="536752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1481328" y="5358384"/>
            <a:ext cx="914400" cy="256032"/>
          </a:xfrm>
          <a:prstGeom prst="roundRect">
            <a:avLst/>
          </a:prstGeom>
          <a:solidFill>
            <a:srgbClr val="F8E3E3"/>
          </a:solidFill>
          <a:ln w="10160">
            <a:solidFill>
              <a:srgbClr val="F8E3E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481328" y="5408676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2999232" y="5367528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run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8229600" y="1417320"/>
            <a:ext cx="3456432" cy="4343400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522208" y="17373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READ-OUT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8522208" y="2148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C4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800" dirty="0"/>
          </a:p>
        </p:txBody>
      </p:sp>
      <p:sp>
        <p:nvSpPr>
          <p:cNvPr id="51" name="Text 49"/>
          <p:cNvSpPr txBox="1"/>
          <p:nvPr/>
        </p:nvSpPr>
        <p:spPr>
          <a:xfrm>
            <a:off x="9372600" y="2267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fully aligned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8522208" y="3063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C4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800" dirty="0"/>
          </a:p>
        </p:txBody>
      </p:sp>
      <p:sp>
        <p:nvSpPr>
          <p:cNvPr id="53" name="Text 51"/>
          <p:cNvSpPr txBox="1"/>
          <p:nvPr/>
        </p:nvSpPr>
        <p:spPr>
          <a:xfrm>
            <a:off x="9372600" y="31821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missing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8522208" y="39776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B67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800" dirty="0"/>
          </a:p>
        </p:txBody>
      </p:sp>
      <p:sp>
        <p:nvSpPr>
          <p:cNvPr id="55" name="Text 53"/>
          <p:cNvSpPr txBox="1"/>
          <p:nvPr/>
        </p:nvSpPr>
        <p:spPr>
          <a:xfrm>
            <a:off x="9372600" y="40965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partial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8522208" y="4983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validates mechanics, not end-to-end governance.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77C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93192" y="22860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FAILED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393192" y="530352"/>
            <a:ext cx="11292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khóa, corpus hẹp và timeline thiếu khiến output không publishable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93192" y="6291072"/>
            <a:ext cx="10607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Pilot report sections 3-7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393192" y="1572768"/>
            <a:ext cx="3401568" cy="3337560"/>
          </a:xfrm>
          <a:prstGeom prst="rect">
            <a:avLst/>
          </a:prstGeom>
          <a:solidFill>
            <a:srgbClr val="DDEBFA"/>
          </a:solidFill>
          <a:ln w="12700">
            <a:solidFill>
              <a:srgbClr val="DDEBFA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" y="181051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23042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PRE-LOCKED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288036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`family: terminal` đứng trước retrieval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12648" y="3639312"/>
            <a:ext cx="2788920" cy="0"/>
          </a:xfrm>
          <a:prstGeom prst="line">
            <a:avLst/>
          </a:prstGeom>
          <a:noFill/>
          <a:ln w="889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 txBox="1"/>
          <p:nvPr/>
        </p:nvSpPr>
        <p:spPr>
          <a:xfrm>
            <a:off x="612648" y="391363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xác nhận lựa chọn thay vì khám phá lựa chọn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60520" y="1572768"/>
            <a:ext cx="3401568" cy="3337560"/>
          </a:xfrm>
          <a:prstGeom prst="rect">
            <a:avLst/>
          </a:prstGeom>
          <a:solidFill>
            <a:srgbClr val="F7ECD8"/>
          </a:solidFill>
          <a:ln w="12700">
            <a:solidFill>
              <a:srgbClr val="F7ECD8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79976" y="181051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67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379976" y="23042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67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 TOO THIN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379976" y="288036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links nhưng chỉ 3 unique chunks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379976" y="3639312"/>
            <a:ext cx="2788920" cy="0"/>
          </a:xfrm>
          <a:prstGeom prst="line">
            <a:avLst/>
          </a:prstGeom>
          <a:noFill/>
          <a:ln w="889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 txBox="1"/>
          <p:nvPr/>
        </p:nvSpPr>
        <p:spPr>
          <a:xfrm>
            <a:off x="4379976" y="391363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scene cùng family và template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927848" y="1572768"/>
            <a:ext cx="3401568" cy="3337560"/>
          </a:xfrm>
          <a:prstGeom prst="rect">
            <a:avLst/>
          </a:prstGeom>
          <a:solidFill>
            <a:srgbClr val="F8E3E3"/>
          </a:solidFill>
          <a:ln w="12700">
            <a:solidFill>
              <a:srgbClr val="F8E3E3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47304" y="181051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4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147304" y="23042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SKIPPED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147304" y="288036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TTS hoặc TimedScript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147304" y="3639312"/>
            <a:ext cx="2788920" cy="0"/>
          </a:xfrm>
          <a:prstGeom prst="line">
            <a:avLst/>
          </a:prstGeom>
          <a:noFill/>
          <a:ln w="889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 txBox="1"/>
          <p:nvPr/>
        </p:nvSpPr>
        <p:spPr>
          <a:xfrm>
            <a:off x="8147304" y="391363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AAC -91 dB; timing chỉ ước lượng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93192" y="5413248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sai không nằm ở SQLite hay render. Sai ở framing, contract và gate.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77C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93192" y="22860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ROOT-CAUSE ISSUE TREE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393192" y="530352"/>
            <a:ext cx="11292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Năm root cause cùng hội tụ vào một lỗi: pilot bị dùng như production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93192" y="6291072"/>
            <a:ext cx="10607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Cross-document diagnosis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1143000" y="3246120"/>
            <a:ext cx="9784080" cy="0"/>
          </a:xfrm>
          <a:prstGeom prst="line">
            <a:avLst/>
          </a:prstGeom>
          <a:noFill/>
          <a:ln w="1651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353312" y="2743200"/>
            <a:ext cx="0" cy="502920"/>
          </a:xfrm>
          <a:prstGeom prst="line">
            <a:avLst/>
          </a:prstGeom>
          <a:noFill/>
          <a:ln w="1524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393192" y="1572768"/>
            <a:ext cx="1938528" cy="1097280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57784" y="18105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57784" y="21488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docs mâu thuẫn; owner lane chưa rõ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21024" y="2743200"/>
            <a:ext cx="0" cy="502920"/>
          </a:xfrm>
          <a:prstGeom prst="line">
            <a:avLst/>
          </a:prstGeom>
          <a:noFill/>
          <a:ln w="1524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660904" y="1572768"/>
            <a:ext cx="1938528" cy="1097280"/>
          </a:xfrm>
          <a:prstGeom prst="rect">
            <a:avLst/>
          </a:prstGeom>
          <a:solidFill>
            <a:srgbClr val="DDEBFA"/>
          </a:solidFill>
          <a:ln w="12700">
            <a:solidFill>
              <a:srgbClr val="DDEBFA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25496" y="18105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825496" y="21488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flow:run và visual-flow tách ngầm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88736" y="2743200"/>
            <a:ext cx="0" cy="502920"/>
          </a:xfrm>
          <a:prstGeom prst="line">
            <a:avLst/>
          </a:prstGeom>
          <a:noFill/>
          <a:ln w="1524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928616" y="1572768"/>
            <a:ext cx="1938528" cy="1097280"/>
          </a:xfrm>
          <a:prstGeom prst="rect">
            <a:avLst/>
          </a:prstGeom>
          <a:solidFill>
            <a:srgbClr val="DDEBFA"/>
          </a:solidFill>
          <a:ln w="12700">
            <a:solidFill>
              <a:srgbClr val="DDEBFA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93208" y="18105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contract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093208" y="21488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Thiếu intent, beat, actor, audience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56448" y="2743200"/>
            <a:ext cx="0" cy="502920"/>
          </a:xfrm>
          <a:prstGeom prst="line">
            <a:avLst/>
          </a:prstGeom>
          <a:noFill/>
          <a:ln w="1524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196328" y="1572768"/>
            <a:ext cx="1938528" cy="1097280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60920" y="18105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21488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 hẹp; retrieval lexical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424160" y="2743200"/>
            <a:ext cx="0" cy="502920"/>
          </a:xfrm>
          <a:prstGeom prst="line">
            <a:avLst/>
          </a:prstGeom>
          <a:noFill/>
          <a:ln w="1524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464040" y="1572768"/>
            <a:ext cx="1938528" cy="1097280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28632" y="18105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628632" y="21488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muộn; approval không lưu artifact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64992" y="3584448"/>
            <a:ext cx="5440680" cy="1078992"/>
          </a:xfrm>
          <a:prstGeom prst="rect">
            <a:avLst/>
          </a:prstGeom>
          <a:solidFill>
            <a:srgbClr val="F8E3E3"/>
          </a:solidFill>
          <a:ln w="12700">
            <a:solidFill>
              <a:srgbClr val="F8E3E3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75888" y="38221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4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EFFECT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919472" y="374904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PASS bị diễn giải quá mức thành production readiness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393192" y="53492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ưu tiên: formalize lane boundary trước; nâng retrieval sau.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77C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93192" y="22860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OPERATING MODEL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393192" y="530352"/>
            <a:ext cx="11292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lane chia mục tiêu; promotion gate nối learning với publishing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93192" y="6291072"/>
            <a:ext cx="10607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Recommended operating model</a:t>
            </a:r>
            <a:endParaRPr lang="en-US" sz="650" dirty="0"/>
          </a:p>
        </p:txBody>
      </p:sp>
      <p:sp>
        <p:nvSpPr>
          <p:cNvPr id="5" name="Text 3"/>
          <p:cNvSpPr txBox="1"/>
          <p:nvPr/>
        </p:nvSpPr>
        <p:spPr>
          <a:xfrm>
            <a:off x="393192" y="13716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LANE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620256" y="137160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B67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VISUAL PILOT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93192" y="1682496"/>
            <a:ext cx="4800600" cy="3246120"/>
          </a:xfrm>
          <a:prstGeom prst="rect">
            <a:avLst/>
          </a:prstGeom>
          <a:solidFill>
            <a:srgbClr val="DDEBFA"/>
          </a:solidFill>
          <a:ln w="12700">
            <a:solidFill>
              <a:srgbClr val="DDEBF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20256" y="1682496"/>
            <a:ext cx="5065776" cy="3246120"/>
          </a:xfrm>
          <a:prstGeom prst="rect">
            <a:avLst/>
          </a:prstGeom>
          <a:solidFill>
            <a:srgbClr val="F7ECD8"/>
          </a:solidFill>
          <a:ln w="12700">
            <a:solidFill>
              <a:srgbClr val="F7ECD8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9385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Publishable output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487168"/>
            <a:ext cx="3977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800" indent="-177800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FLOW_V1 S0-S6 bắt buộc</a:t>
            </a:r>
            <a:endParaRPr lang="en-US" sz="1600" dirty="0"/>
          </a:p>
          <a:p>
            <a:pPr algn="l" marL="177800" indent="-177800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thật + TimedScript</a:t>
            </a:r>
            <a:endParaRPr lang="en-US" sz="1600" dirty="0"/>
          </a:p>
          <a:p>
            <a:pPr algn="l" marL="177800" indent="-177800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user gates</a:t>
            </a:r>
            <a:endParaRPr lang="en-US" sz="1600" dirty="0"/>
          </a:p>
          <a:p>
            <a:pPr algn="l" marL="177800" indent="-177800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Factual + visual provenance</a:t>
            </a:r>
            <a:endParaRPr lang="en-US" sz="1600" dirty="0"/>
          </a:p>
          <a:p>
            <a:pPr algn="l" marL="177800" indent="-177800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handoff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31152" y="19385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visual learning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2487168"/>
            <a:ext cx="4160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800" indent="-177800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ContentBrief + visual RAG</a:t>
            </a:r>
            <a:endParaRPr lang="en-US" sz="1600" dirty="0"/>
          </a:p>
          <a:p>
            <a:pPr algn="l" marL="177800" indent="-177800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ranking + trace</a:t>
            </a:r>
            <a:endParaRPr lang="en-US" sz="1600" dirty="0"/>
          </a:p>
          <a:p>
            <a:pPr algn="l" marL="177800" indent="-177800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QA trước render</a:t>
            </a:r>
            <a:endParaRPr lang="en-US" sz="1600" dirty="0"/>
          </a:p>
          <a:p>
            <a:pPr algn="l" marL="177800" indent="-177800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tùy chọn</a:t>
            </a:r>
            <a:endParaRPr lang="en-US" sz="1600" dirty="0"/>
          </a:p>
          <a:p>
            <a:pPr algn="l" marL="177800" indent="-177800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Mặc định non-publishable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30368" y="3017520"/>
            <a:ext cx="1344168" cy="475488"/>
          </a:xfrm>
          <a:prstGeom prst="leftArrow">
            <a:avLst/>
          </a:prstGeom>
          <a:solidFill>
            <a:srgbClr val="C43B3B"/>
          </a:solidFill>
          <a:ln w="12700">
            <a:solidFill>
              <a:srgbClr val="C43B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3858768"/>
            <a:ext cx="1737360" cy="256032"/>
          </a:xfrm>
          <a:prstGeom prst="roundRect">
            <a:avLst/>
          </a:prstGeom>
          <a:solidFill>
            <a:srgbClr val="F8E3E3"/>
          </a:solidFill>
          <a:ln w="10160">
            <a:solidFill>
              <a:srgbClr val="F8E3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3909060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 GATE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2212848" y="5330952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script  ·  factual sources  ·  TimedScript  ·  QA record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77C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93192" y="22860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CONTENT-TO-STYLE ENGINE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393192" y="530352"/>
            <a:ext cx="11292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engine phải đọc intent trước khi đọc family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93192" y="6291072"/>
            <a:ext cx="10607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Proposed contracts in technical appendix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393192" y="2011680"/>
            <a:ext cx="1901952" cy="1234440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24942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CONTENTBRIEF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1518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· audience · beat · actors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95144" y="2624328"/>
            <a:ext cx="365760" cy="0"/>
          </a:xfrm>
          <a:prstGeom prst="line">
            <a:avLst/>
          </a:prstGeom>
          <a:noFill/>
          <a:ln w="17780">
            <a:solidFill>
              <a:srgbClr val="2E77D0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660904" y="2011680"/>
            <a:ext cx="1901952" cy="1234440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16352" y="224942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816352" y="261518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evidence candidates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62856" y="2624328"/>
            <a:ext cx="365760" cy="0"/>
          </a:xfrm>
          <a:prstGeom prst="line">
            <a:avLst/>
          </a:prstGeom>
          <a:noFill/>
          <a:ln w="17780">
            <a:solidFill>
              <a:srgbClr val="2E77D0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928616" y="2011680"/>
            <a:ext cx="1901952" cy="1234440"/>
          </a:xfrm>
          <a:prstGeom prst="rect">
            <a:avLst/>
          </a:prstGeom>
          <a:solidFill>
            <a:srgbClr val="DDEBFA"/>
          </a:solidFill>
          <a:ln w="12700">
            <a:solidFill>
              <a:srgbClr val="DDEBFA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84064" y="224942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084064" y="261518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· availability · anti-monotony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30568" y="2624328"/>
            <a:ext cx="365760" cy="0"/>
          </a:xfrm>
          <a:prstGeom prst="line">
            <a:avLst/>
          </a:prstGeom>
          <a:noFill/>
          <a:ln w="17780">
            <a:solidFill>
              <a:srgbClr val="2E77D0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196328" y="2011680"/>
            <a:ext cx="1901952" cy="1234440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51776" y="224942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SELECTIONTRACE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351776" y="261518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 · reasons · fallback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098280" y="2624328"/>
            <a:ext cx="365760" cy="0"/>
          </a:xfrm>
          <a:prstGeom prst="line">
            <a:avLst/>
          </a:prstGeom>
          <a:noFill/>
          <a:ln w="17780">
            <a:solidFill>
              <a:srgbClr val="2E77D0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464040" y="2011680"/>
            <a:ext cx="1901952" cy="1234440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19488" y="224942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VIDEOMAP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619488" y="261518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Renderer-only contract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93192" y="4041648"/>
            <a:ext cx="5303520" cy="1051560"/>
          </a:xfrm>
          <a:prstGeom prst="rect">
            <a:avLst/>
          </a:prstGeom>
          <a:solidFill>
            <a:srgbClr val="DFF1E8"/>
          </a:solidFill>
          <a:ln w="12700">
            <a:solidFill>
              <a:srgbClr val="DFF1E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08192" y="4041648"/>
            <a:ext cx="5577840" cy="1051560"/>
          </a:xfrm>
          <a:prstGeom prst="rect">
            <a:avLst/>
          </a:prstGeom>
          <a:solidFill>
            <a:srgbClr val="F7ECD8"/>
          </a:solidFill>
          <a:ln w="12700">
            <a:solidFill>
              <a:srgbClr val="F7ECD8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" y="42793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7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MODE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737360" y="42153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rank nhiều family; director chọn và chống lặp.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382512" y="42793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678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MODE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680960" y="421538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chỉ định family; trace ghi who + why.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393192" y="5559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còn “family metadata ngầm” trong auto mode.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77C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93192" y="22860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12-WEEK ROADMAP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393192" y="530352"/>
            <a:ext cx="11292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Ổn định governance trước, nâng intelligence sau, rồi mới scale corpus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93192" y="6291072"/>
            <a:ext cx="10607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Recommended action plan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393192" y="1481328"/>
            <a:ext cx="3401568" cy="4069080"/>
          </a:xfrm>
          <a:prstGeom prst="rect">
            <a:avLst/>
          </a:prstGeom>
          <a:solidFill>
            <a:srgbClr val="DDEBFA"/>
          </a:solidFill>
          <a:ln w="12700">
            <a:solidFill>
              <a:srgbClr val="DDEBFA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75564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0-2 WEEKS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1488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FORMALIZE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21792" y="2697480"/>
            <a:ext cx="2761488" cy="0"/>
          </a:xfrm>
          <a:prstGeom prst="line">
            <a:avLst/>
          </a:prstGeom>
          <a:noFill/>
          <a:ln w="1016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621792" y="2999232"/>
            <a:ext cx="27706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Khai báo 2 lane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 lane + styleMode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Silence/overflow/render lock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461772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289304" y="457200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run được phân loại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60520" y="1481328"/>
            <a:ext cx="3401568" cy="4069080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89120" y="175564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2-6 WEEKS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21488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389120" y="2697480"/>
            <a:ext cx="2761488" cy="0"/>
          </a:xfrm>
          <a:prstGeom prst="line">
            <a:avLst/>
          </a:prstGeom>
          <a:noFill/>
          <a:ln w="1016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 txBox="1"/>
          <p:nvPr/>
        </p:nvSpPr>
        <p:spPr>
          <a:xfrm>
            <a:off x="4389120" y="2999232"/>
            <a:ext cx="27706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ContentBrief + SelectionTrace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retrieval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Tách factual/style RAG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461772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5056632" y="457200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scene có candidate trace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27848" y="1481328"/>
            <a:ext cx="3401568" cy="4069080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56448" y="175564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6-12 WEEKS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156448" y="21488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8156448" y="2697480"/>
            <a:ext cx="2761488" cy="0"/>
          </a:xfrm>
          <a:prstGeom prst="line">
            <a:avLst/>
          </a:prstGeom>
          <a:noFill/>
          <a:ln w="1016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 txBox="1"/>
          <p:nvPr/>
        </p:nvSpPr>
        <p:spPr>
          <a:xfrm>
            <a:off x="8156448" y="2999232"/>
            <a:ext cx="27706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family approved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archetype suite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dashboard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156448" y="461772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8823960" y="457200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readiness ≥95%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93192" y="587044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path: lane contract  →  run metadata  →  selection contract  →  corpus scale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77C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93192" y="22860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AND SCORECARD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393192" y="530352"/>
            <a:ext cx="11292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Bốn quyết định mở khóa roadmap; bảy KPI giữ chất lượng khi scale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93192" y="6291072"/>
            <a:ext cx="10607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4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Recommended governance and KPI definitions</a:t>
            </a:r>
            <a:endParaRPr lang="en-US" sz="650" dirty="0"/>
          </a:p>
        </p:txBody>
      </p:sp>
      <p:sp>
        <p:nvSpPr>
          <p:cNvPr id="5" name="Text 3"/>
          <p:cNvSpPr txBox="1"/>
          <p:nvPr/>
        </p:nvSpPr>
        <p:spPr>
          <a:xfrm>
            <a:off x="393192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44475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Production Lane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209544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712464" y="144475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Pilot Lane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025896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528816" y="144475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RAG corpus + rights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842248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9345168" y="144475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mapping + QA gates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93192" y="2084832"/>
            <a:ext cx="11292840" cy="0"/>
          </a:xfrm>
          <a:prstGeom prst="line">
            <a:avLst/>
          </a:prstGeom>
          <a:noFill/>
          <a:ln w="1270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393192" y="2926080"/>
            <a:ext cx="5074920" cy="0"/>
          </a:xfrm>
          <a:prstGeom prst="line">
            <a:avLst/>
          </a:prstGeom>
          <a:noFill/>
          <a:ln w="762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 txBox="1"/>
          <p:nvPr/>
        </p:nvSpPr>
        <p:spPr>
          <a:xfrm>
            <a:off x="393192" y="24231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coverage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142232" y="240487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≥95%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93192" y="3639312"/>
            <a:ext cx="5074920" cy="0"/>
          </a:xfrm>
          <a:prstGeom prst="line">
            <a:avLst/>
          </a:prstGeom>
          <a:noFill/>
          <a:ln w="762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 txBox="1"/>
          <p:nvPr/>
        </p:nvSpPr>
        <p:spPr>
          <a:xfrm>
            <a:off x="393192" y="313639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142232" y="311810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47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93192" y="4352544"/>
            <a:ext cx="5074920" cy="0"/>
          </a:xfrm>
          <a:prstGeom prst="line">
            <a:avLst/>
          </a:prstGeom>
          <a:noFill/>
          <a:ln w="762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 txBox="1"/>
          <p:nvPr/>
        </p:nvSpPr>
        <p:spPr>
          <a:xfrm>
            <a:off x="393192" y="384962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override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142232" y="383133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&lt;20%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93192" y="5065776"/>
            <a:ext cx="5074920" cy="0"/>
          </a:xfrm>
          <a:prstGeom prst="line">
            <a:avLst/>
          </a:prstGeom>
          <a:noFill/>
          <a:ln w="762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 txBox="1"/>
          <p:nvPr/>
        </p:nvSpPr>
        <p:spPr>
          <a:xfrm>
            <a:off x="393192" y="456285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repeat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142232" y="45445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≤2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199632" y="2926080"/>
            <a:ext cx="5074920" cy="0"/>
          </a:xfrm>
          <a:prstGeom prst="line">
            <a:avLst/>
          </a:prstGeom>
          <a:noFill/>
          <a:ln w="762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 txBox="1"/>
          <p:nvPr/>
        </p:nvSpPr>
        <p:spPr>
          <a:xfrm>
            <a:off x="6199632" y="24231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+ captions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948672" y="240487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47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pass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199632" y="3639312"/>
            <a:ext cx="5074920" cy="0"/>
          </a:xfrm>
          <a:prstGeom prst="line">
            <a:avLst/>
          </a:prstGeom>
          <a:noFill/>
          <a:ln w="762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30" name="Text 28"/>
          <p:cNvSpPr txBox="1"/>
          <p:nvPr/>
        </p:nvSpPr>
        <p:spPr>
          <a:xfrm>
            <a:off x="6199632" y="313639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First-pass still QA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948672" y="311810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≥90%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199632" y="4352544"/>
            <a:ext cx="5074920" cy="0"/>
          </a:xfrm>
          <a:prstGeom prst="line">
            <a:avLst/>
          </a:prstGeom>
          <a:noFill/>
          <a:ln w="7620">
            <a:solidFill>
              <a:srgbClr val="B9BEC7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 txBox="1"/>
          <p:nvPr/>
        </p:nvSpPr>
        <p:spPr>
          <a:xfrm>
            <a:off x="6199632" y="384962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readiness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9948672" y="383133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E7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≥95%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199632" y="4983480"/>
            <a:ext cx="5074920" cy="658368"/>
          </a:xfrm>
          <a:prstGeom prst="rect">
            <a:avLst/>
          </a:prstGeom>
          <a:solidFill>
            <a:srgbClr val="F8E3E3"/>
          </a:solidFill>
          <a:ln w="12700">
            <a:solidFill>
              <a:srgbClr val="F8E3E3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28232" y="5175504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4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decision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7790688" y="511149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lane owners + promotion gate.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393192" y="5916168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review: end of week 2, after lane metadata and hard gates ship.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77C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Opus Lucida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Remotion RAG: technical proof, production gap, two-lane operating model</dc:title>
  <dc:subject>Remotion RAG Operating Model</dc:subject>
  <dc:creator>Opus Lucida</dc:creator>
  <cp:lastModifiedBy>Opus Lucida</cp:lastModifiedBy>
  <cp:revision>1</cp:revision>
  <dcterms:created xsi:type="dcterms:W3CDTF">2026-07-16T06:55:26Z</dcterms:created>
  <dcterms:modified xsi:type="dcterms:W3CDTF">2026-07-16T06:55:26Z</dcterms:modified>
</cp:coreProperties>
</file>